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2" r:id="rId7"/>
    <p:sldId id="263" r:id="rId8"/>
    <p:sldId id="26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1D104B-9297-4D07-99D7-BA161CB5B566}" type="slidenum">
              <a:rPr lang="en-IN" smtClean="0"/>
              <a:t>‹#›</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1D104B-9297-4D07-99D7-BA161CB5B566}" type="slidenum">
              <a:rPr lang="en-IN" smtClean="0"/>
              <a:t>‹#›</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1D104B-9297-4D07-99D7-BA161CB5B566}" type="slidenum">
              <a:rPr lang="en-IN" smtClean="0"/>
              <a:t>‹#›</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A1D104B-9297-4D07-99D7-BA161CB5B566}" type="slidenum">
              <a:rPr lang="en-IN" smtClean="0"/>
              <a:t>‹#›</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DA1D104B-9297-4D07-99D7-BA161CB5B566}" type="slidenum">
              <a:rPr lang="en-IN" smtClean="0"/>
              <a:t>‹#›</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DA1D104B-9297-4D07-99D7-BA161CB5B566}" type="slidenum">
              <a:rPr lang="en-IN" smtClean="0"/>
              <a:t>‹#›</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DA1D104B-9297-4D07-99D7-BA161CB5B566}" type="slidenum">
              <a:rPr lang="en-IN" smtClean="0"/>
              <a:t>‹#›</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A1D104B-9297-4D07-99D7-BA161CB5B566}" type="slidenum">
              <a:rPr lang="en-IN" smtClean="0"/>
              <a:t>‹#›</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A1D104B-9297-4D07-99D7-BA161CB5B566}" type="slidenum">
              <a:rPr lang="en-IN" smtClean="0"/>
              <a:t>‹#›</a:t>
            </a:fld>
            <a:endParaRPr lang="en-IN" dirty="0"/>
          </a:p>
        </p:txBody>
      </p:sp>
      <p:sp>
        <p:nvSpPr>
          <p:cNvPr id="5" name="Date Placeholder 4"/>
          <p:cNvSpPr>
            <a:spLocks noGrp="1"/>
          </p:cNvSpPr>
          <p:nvPr>
            <p:ph type="dt" sz="half" idx="10"/>
          </p:nvPr>
        </p:nvSpPr>
        <p:spPr/>
        <p:txBody>
          <a:bodyPr/>
          <a:lstStyle/>
          <a:p>
            <a:fld id="{D591ED41-5692-4180-9A6F-3F3018751F6F}" type="datetimeFigureOut">
              <a:rPr lang="en-IN" smtClean="0"/>
              <a:t>17-09-2024</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1D104B-9297-4D07-99D7-BA161CB5B566}" type="slidenum">
              <a:rPr lang="en-IN" smtClean="0"/>
              <a:t>‹#›</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1D104B-9297-4D07-99D7-BA161CB5B566}"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1D104B-9297-4D07-99D7-BA161CB5B566}" type="slidenum">
              <a:rPr lang="en-IN" smtClean="0"/>
              <a:t>‹#›</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1D104B-9297-4D07-99D7-BA161CB5B566}"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1D104B-9297-4D07-99D7-BA161CB5B566}" type="slidenum">
              <a:rPr lang="en-IN" smtClean="0"/>
              <a:t>‹#›</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1D104B-9297-4D07-99D7-BA161CB5B566}" type="slidenum">
              <a:rPr lang="en-IN" smtClean="0"/>
              <a:t>‹#›</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1D104B-9297-4D07-99D7-BA161CB5B566}" type="slidenum">
              <a:rPr lang="en-IN" smtClean="0"/>
              <a:t>‹#›</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91ED41-5692-4180-9A6F-3F3018751F6F}" type="datetimeFigureOut">
              <a:rPr lang="en-IN" smtClean="0"/>
              <a:t>17-09-2024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1D104B-9297-4D07-99D7-BA161CB5B566}" type="slidenum">
              <a:rPr lang="en-IN" smtClean="0"/>
              <a:t>‹#›</a:t>
            </a:fld>
            <a:endParaRPr lang="en-IN"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591ED41-5692-4180-9A6F-3F3018751F6F}" type="datetimeFigureOut">
              <a:rPr lang="en-IN" smtClean="0"/>
              <a:t>17-09-2024</a:t>
            </a:fld>
            <a:endParaRPr lang="en-IN"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A1D104B-9297-4D07-99D7-BA161CB5B566}" type="slidenum">
              <a:rPr lang="en-IN" smtClean="0"/>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88957"/>
            <a:ext cx="12191999" cy="1126282"/>
          </a:xfrm>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a:lstStyle/>
          <a:p>
            <a:pPr algn="ctr"/>
            <a:r>
              <a:rPr lang="en-US" dirty="0">
                <a:solidFill>
                  <a:schemeClr val="tx2">
                    <a:lumMod val="50000"/>
                  </a:schemeClr>
                </a:solidFill>
              </a:rPr>
              <a:t> Insurance Charges Prediction</a:t>
            </a:r>
            <a:endParaRPr lang="en-IN" dirty="0">
              <a:solidFill>
                <a:schemeClr val="tx2">
                  <a:lumMod val="50000"/>
                </a:schemeClr>
              </a:solidFill>
            </a:endParaRPr>
          </a:p>
        </p:txBody>
      </p:sp>
      <p:sp>
        <p:nvSpPr>
          <p:cNvPr id="3" name="Subtitle 2"/>
          <p:cNvSpPr>
            <a:spLocks noGrp="1"/>
          </p:cNvSpPr>
          <p:nvPr>
            <p:ph type="subTitle" idx="1"/>
          </p:nvPr>
        </p:nvSpPr>
        <p:spPr>
          <a:xfrm>
            <a:off x="2589213" y="4502525"/>
            <a:ext cx="8915399" cy="1883285"/>
          </a:xfrm>
        </p:spPr>
        <p:txBody>
          <a:bodyPr>
            <a:normAutofit/>
          </a:bodyPr>
          <a:lstStyle/>
          <a:p>
            <a:pPr algn="r"/>
            <a:r>
              <a:rPr lang="en-US" sz="2000" b="1" dirty="0">
                <a:solidFill>
                  <a:schemeClr val="tx2">
                    <a:lumMod val="50000"/>
                  </a:schemeClr>
                </a:solidFill>
              </a:rPr>
              <a:t>Prepared By :- Rana Mitesh A. </a:t>
            </a:r>
          </a:p>
          <a:p>
            <a:pPr algn="r"/>
            <a:r>
              <a:rPr lang="en-US" sz="2000" b="1" dirty="0">
                <a:solidFill>
                  <a:schemeClr val="tx2">
                    <a:lumMod val="50000"/>
                  </a:schemeClr>
                </a:solidFill>
              </a:rPr>
              <a:t>Enrollment no :-</a:t>
            </a:r>
            <a:r>
              <a:rPr lang="en-IN" sz="2000" b="1" dirty="0">
                <a:solidFill>
                  <a:schemeClr val="tx2">
                    <a:lumMod val="50000"/>
                  </a:schemeClr>
                </a:solidFill>
                <a:latin typeface="Times New Roman" panose="02020603050405020304"/>
                <a:cs typeface="Times New Roman" panose="02020603050405020304"/>
              </a:rPr>
              <a:t> 226090307113     </a:t>
            </a:r>
            <a:endParaRPr lang="en-US" sz="2000" b="1" dirty="0">
              <a:solidFill>
                <a:schemeClr val="tx2">
                  <a:lumMod val="50000"/>
                </a:schemeClr>
              </a:solidFill>
            </a:endParaRPr>
          </a:p>
          <a:p>
            <a:pPr algn="r"/>
            <a:r>
              <a:rPr lang="en-US" sz="2000" b="1" dirty="0">
                <a:solidFill>
                  <a:schemeClr val="tx2">
                    <a:lumMod val="50000"/>
                  </a:schemeClr>
                </a:solidFill>
              </a:rPr>
              <a:t>Guided By :- S. R. Bhalgama </a:t>
            </a:r>
          </a:p>
          <a:p>
            <a:pPr algn="r"/>
            <a:r>
              <a:rPr lang="en-US" sz="2000" b="1" dirty="0">
                <a:solidFill>
                  <a:schemeClr val="tx2">
                    <a:lumMod val="50000"/>
                  </a:schemeClr>
                </a:solidFill>
              </a:rPr>
              <a:t>College Name :- C.U. Shah Polytechnic</a:t>
            </a:r>
          </a:p>
          <a:p>
            <a:pPr algn="r"/>
            <a:endParaRPr lang="en-US" sz="2000" b="1" dirty="0">
              <a:solidFill>
                <a:schemeClr val="tx2">
                  <a:lumMod val="50000"/>
                </a:schemeClr>
              </a:solidFill>
            </a:endParaRPr>
          </a:p>
          <a:p>
            <a:pPr algn="r"/>
            <a:endParaRPr lang="en-IN"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9120" y="1248697"/>
            <a:ext cx="5602454" cy="914400"/>
          </a:xfrm>
          <a:scene3d>
            <a:camera prst="orthographicFront"/>
            <a:lightRig rig="threePt" dir="t"/>
          </a:scene3d>
          <a:sp3d>
            <a:bevelT prst="relaxedInset"/>
          </a:sp3d>
        </p:spPr>
        <p:style>
          <a:lnRef idx="1">
            <a:schemeClr val="accent2"/>
          </a:lnRef>
          <a:fillRef idx="2">
            <a:schemeClr val="accent2"/>
          </a:fillRef>
          <a:effectRef idx="1">
            <a:schemeClr val="accent2"/>
          </a:effectRef>
          <a:fontRef idx="minor">
            <a:schemeClr val="dk1"/>
          </a:fontRef>
        </p:style>
        <p:txBody>
          <a:bodyPr>
            <a:normAutofit/>
          </a:bodyPr>
          <a:lstStyle/>
          <a:p>
            <a:pPr marL="457200" indent="-457200">
              <a:buFont typeface="Wingdings" panose="05000000000000000000" pitchFamily="2" charset="2"/>
              <a:buChar char="v"/>
            </a:pPr>
            <a:r>
              <a:rPr lang="en-US" sz="2800" dirty="0"/>
              <a:t>Introduction to the Project:-</a:t>
            </a:r>
            <a:endParaRPr lang="en-IN" sz="2800" dirty="0"/>
          </a:p>
        </p:txBody>
      </p:sp>
      <p:sp>
        <p:nvSpPr>
          <p:cNvPr id="4" name="Text Placeholder 3"/>
          <p:cNvSpPr>
            <a:spLocks noGrp="1"/>
          </p:cNvSpPr>
          <p:nvPr>
            <p:ph type="body" idx="1"/>
          </p:nvPr>
        </p:nvSpPr>
        <p:spPr>
          <a:xfrm>
            <a:off x="1913120" y="2460291"/>
            <a:ext cx="8915399" cy="1555864"/>
          </a:xfrm>
        </p:spPr>
        <p:txBody>
          <a:bodyPr>
            <a:noAutofit/>
          </a:bodyPr>
          <a:lstStyle/>
          <a:p>
            <a:pPr marL="285750" lvl="0" indent="-285750" algn="just">
              <a:lnSpc>
                <a:spcPct val="100000"/>
              </a:lnSpc>
              <a:buClr>
                <a:schemeClr val="tx1"/>
              </a:buClr>
              <a:buSzPts val="1300"/>
              <a:buFont typeface="Wingdings" panose="05000000000000000000" pitchFamily="2" charset="2"/>
              <a:buChar char="q"/>
            </a:pPr>
            <a:r>
              <a:rPr lang="en-US" sz="1600" b="0" i="0" dirty="0">
                <a:effectLst/>
                <a:latin typeface="Cambria" panose="02040503050406030204" pitchFamily="18" charset="0"/>
                <a:ea typeface="Cambria" panose="02040503050406030204" pitchFamily="18" charset="0"/>
              </a:rPr>
              <a:t>Insurance charges prediction in machine learning is a crucial application of predictive analytics in the healthcare industry. The primary goal is to accurately forecast insurance costs, enabling insurance companies to offer personalized policies and optimize their business strategies. By leveraging machine learning algorithms, insurers can analyze various factors, such as demographics, medical history, and lifestyle, to predict the likelihood of certain health outcomes and associated costs.</a:t>
            </a:r>
            <a:endParaRPr lang="en-US" sz="1800" spc="0" dirty="0">
              <a:effectLst/>
              <a:latin typeface="Cambria" panose="02040503050406030204" pitchFamily="18" charset="0"/>
              <a:ea typeface="Cambria" panose="02040503050406030204" pitchFamily="18" charset="0"/>
              <a:cs typeface="Wingdings" panose="05000000000000000000" pitchFamily="2" charset="2"/>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83830" y="569626"/>
            <a:ext cx="5186596" cy="523220"/>
          </a:xfrm>
          <a:prstGeom prst="rect">
            <a:avLst/>
          </a:prstGeom>
          <a:scene3d>
            <a:camera prst="orthographicFront">
              <a:rot lat="0" lon="0" rev="0"/>
            </a:camera>
            <a:lightRig rig="threePt" dir="tl"/>
          </a:scene3d>
          <a:sp3d prstMaterial="plastic">
            <a:bevelT w="139700" prst="cross"/>
          </a:sp3d>
        </p:spPr>
        <p:style>
          <a:lnRef idx="0">
            <a:schemeClr val="accent3"/>
          </a:lnRef>
          <a:fillRef idx="3">
            <a:schemeClr val="accent3"/>
          </a:fillRef>
          <a:effectRef idx="3">
            <a:schemeClr val="accent3"/>
          </a:effectRef>
          <a:fontRef idx="minor">
            <a:schemeClr val="lt1"/>
          </a:fontRef>
        </p:style>
        <p:txBody>
          <a:bodyPr wrap="square" rtlCol="0">
            <a:spAutoFit/>
          </a:bodyPr>
          <a:lstStyle/>
          <a:p>
            <a:pPr marL="457200" indent="-457200">
              <a:buFont typeface="Wingdings" panose="05000000000000000000" pitchFamily="2" charset="2"/>
              <a:buChar char="v"/>
            </a:pPr>
            <a:r>
              <a:rPr lang="en-US" sz="2800" dirty="0">
                <a:solidFill>
                  <a:schemeClr val="tx1"/>
                </a:solidFill>
              </a:rPr>
              <a:t>Advantages &amp; Limitations:-</a:t>
            </a:r>
            <a:endParaRPr lang="en-IN" sz="2800" dirty="0">
              <a:solidFill>
                <a:schemeClr val="tx1"/>
              </a:solidFill>
            </a:endParaRPr>
          </a:p>
        </p:txBody>
      </p:sp>
      <p:sp>
        <p:nvSpPr>
          <p:cNvPr id="5" name="TextBox 4"/>
          <p:cNvSpPr txBox="1"/>
          <p:nvPr/>
        </p:nvSpPr>
        <p:spPr>
          <a:xfrm>
            <a:off x="1918742" y="1667895"/>
            <a:ext cx="4527030" cy="1015663"/>
          </a:xfrm>
          <a:prstGeom prst="rect">
            <a:avLst/>
          </a:prstGeom>
          <a:noFill/>
        </p:spPr>
        <p:txBody>
          <a:bodyPr wrap="square" rtlCol="0">
            <a:spAutoFit/>
          </a:bodyPr>
          <a:lstStyle/>
          <a:p>
            <a:pPr marL="342900" indent="-342900">
              <a:buFont typeface="Wingdings" panose="05000000000000000000" pitchFamily="2" charset="2"/>
              <a:buChar char="v"/>
            </a:pPr>
            <a:r>
              <a:rPr lang="en-IN" sz="2000" b="1" dirty="0"/>
              <a:t>Advantages:~</a:t>
            </a:r>
          </a:p>
          <a:p>
            <a:pPr marL="342900" indent="-342900">
              <a:buFont typeface="Wingdings" panose="05000000000000000000" pitchFamily="2" charset="2"/>
              <a:buChar char="v"/>
            </a:pPr>
            <a:endParaRPr lang="en-US" sz="2000" b="1" dirty="0"/>
          </a:p>
          <a:p>
            <a:endParaRPr lang="en-US" sz="2000" b="1" dirty="0"/>
          </a:p>
        </p:txBody>
      </p:sp>
      <p:sp>
        <p:nvSpPr>
          <p:cNvPr id="6" name="TextBox 5"/>
          <p:cNvSpPr txBox="1"/>
          <p:nvPr/>
        </p:nvSpPr>
        <p:spPr>
          <a:xfrm>
            <a:off x="1239187" y="2021838"/>
            <a:ext cx="9713625" cy="4247317"/>
          </a:xfrm>
          <a:prstGeom prst="rect">
            <a:avLst/>
          </a:prstGeom>
          <a:noFill/>
        </p:spPr>
        <p:txBody>
          <a:bodyPr wrap="square" rtlCol="0">
            <a:spAutoFit/>
          </a:bodyPr>
          <a:lstStyle/>
          <a:p>
            <a:endParaRPr lang="en-IN" b="1" u="sng" dirty="0">
              <a:latin typeface="Cambria" panose="02040503050406030204" pitchFamily="18" charset="0"/>
              <a:ea typeface="Cambria" panose="02040503050406030204" pitchFamily="18" charset="0"/>
              <a:cs typeface="Shruti" panose="020B0502040204020203" pitchFamily="34" charset="0"/>
            </a:endParaRPr>
          </a:p>
          <a:p>
            <a:pPr marL="285750" indent="-285750">
              <a:buFont typeface="Wingdings" panose="05000000000000000000" pitchFamily="2" charset="2"/>
              <a:buChar char="q"/>
            </a:pPr>
            <a:r>
              <a:rPr lang="en-IN" sz="1800" b="1" dirty="0">
                <a:effectLst/>
                <a:latin typeface="Cambria" panose="02040503050406030204" pitchFamily="18" charset="0"/>
                <a:ea typeface="Calibri" panose="020F0502020204030204" pitchFamily="34" charset="0"/>
                <a:cs typeface="Shruti" panose="020B0502040204020203" pitchFamily="34" charset="0"/>
              </a:rPr>
              <a:t>Improved Accuracy:</a:t>
            </a:r>
            <a:endParaRPr lang="en-IN" sz="1800" b="1" dirty="0">
              <a:effectLst/>
              <a:latin typeface="Calibri" panose="020F0502020204030204" pitchFamily="34" charset="0"/>
              <a:ea typeface="Calibri" panose="020F0502020204030204" pitchFamily="34" charset="0"/>
              <a:cs typeface="Shruti" panose="020B0502040204020203" pitchFamily="34" charset="0"/>
            </a:endParaRPr>
          </a:p>
          <a:p>
            <a:pPr marL="457200"/>
            <a:r>
              <a:rPr lang="en-IN" sz="1800" dirty="0">
                <a:effectLst/>
                <a:latin typeface="Cambria" panose="02040503050406030204" pitchFamily="18" charset="0"/>
                <a:ea typeface="Calibri" panose="020F0502020204030204" pitchFamily="34" charset="0"/>
                <a:cs typeface="Shruti" panose="020B0502040204020203" pitchFamily="34" charset="0"/>
              </a:rPr>
              <a:t>The project's machine learning algorithms enable insurers to predict insurance charges with higher accuracy, reducing the risk of under or overcharging customers.</a:t>
            </a:r>
          </a:p>
          <a:p>
            <a:pPr marL="457200"/>
            <a:r>
              <a:rPr lang="en-IN" dirty="0">
                <a:latin typeface="Cambria" panose="02040503050406030204" pitchFamily="18" charset="0"/>
                <a:ea typeface="Calibri" panose="020F0502020204030204" pitchFamily="34" charset="0"/>
                <a:cs typeface="Shruti" panose="020B0502040204020203" pitchFamily="34" charset="0"/>
              </a:rPr>
              <a:t> 		</a:t>
            </a:r>
            <a:endParaRPr lang="en-IN" sz="1800" dirty="0">
              <a:effectLst/>
              <a:latin typeface="Calibri" panose="020F0502020204030204" pitchFamily="34" charset="0"/>
              <a:ea typeface="Calibri" panose="020F0502020204030204" pitchFamily="34" charset="0"/>
              <a:cs typeface="Shruti" panose="020B0502040204020203" pitchFamily="34" charset="0"/>
            </a:endParaRPr>
          </a:p>
          <a:p>
            <a:pPr marL="285750" indent="-285750">
              <a:buFont typeface="Wingdings" panose="05000000000000000000" pitchFamily="2" charset="2"/>
              <a:buChar char="q"/>
            </a:pPr>
            <a:r>
              <a:rPr lang="en-IN" sz="1800" b="1" dirty="0">
                <a:effectLst/>
                <a:latin typeface="Cambria" panose="02040503050406030204" pitchFamily="18" charset="0"/>
                <a:ea typeface="Calibri" panose="020F0502020204030204" pitchFamily="34" charset="0"/>
                <a:cs typeface="Shruti" panose="020B0502040204020203" pitchFamily="34" charset="0"/>
              </a:rPr>
              <a:t>Cost Savings:</a:t>
            </a:r>
            <a:endParaRPr lang="en-IN" sz="1800" b="1" dirty="0">
              <a:effectLst/>
              <a:latin typeface="Calibri" panose="020F0502020204030204" pitchFamily="34" charset="0"/>
              <a:ea typeface="Calibri" panose="020F0502020204030204" pitchFamily="34" charset="0"/>
              <a:cs typeface="Shruti" panose="020B0502040204020203" pitchFamily="34" charset="0"/>
            </a:endParaRPr>
          </a:p>
          <a:p>
            <a:pPr marL="457200"/>
            <a:r>
              <a:rPr lang="en-IN" sz="1800" dirty="0">
                <a:effectLst/>
                <a:latin typeface="Cambria" panose="02040503050406030204" pitchFamily="18" charset="0"/>
                <a:ea typeface="Calibri" panose="020F0502020204030204" pitchFamily="34" charset="0"/>
                <a:cs typeface="Shruti" panose="020B0502040204020203" pitchFamily="34" charset="0"/>
              </a:rPr>
              <a:t>The project's accurate predictions enable insurers to optimize their business strategies, reducing costs and improving profitability.</a:t>
            </a:r>
            <a:endParaRPr lang="en-IN" sz="1800" dirty="0">
              <a:effectLst/>
              <a:latin typeface="Calibri" panose="020F0502020204030204" pitchFamily="34" charset="0"/>
              <a:ea typeface="Calibri" panose="020F0502020204030204" pitchFamily="34" charset="0"/>
              <a:cs typeface="Shruti" panose="020B0502040204020203" pitchFamily="34" charset="0"/>
            </a:endParaRPr>
          </a:p>
          <a:p>
            <a:pPr marL="342900" lvl="0" indent="-342900" algn="just">
              <a:buFont typeface="+mj-lt"/>
              <a:buAutoNum type="arabicPeriod"/>
            </a:pPr>
            <a:endParaRPr lang="en-IN" sz="1800" dirty="0">
              <a:effectLst/>
              <a:latin typeface="Cambria" panose="02040503050406030204" pitchFamily="18" charset="0"/>
              <a:ea typeface="Cambria" panose="02040503050406030204" pitchFamily="18" charset="0"/>
              <a:cs typeface="Cambria" panose="02040503050406030204" pitchFamily="18" charset="0"/>
            </a:endParaRPr>
          </a:p>
          <a:p>
            <a:pPr marL="285750" indent="-285750">
              <a:buFont typeface="Wingdings" panose="05000000000000000000" pitchFamily="2" charset="2"/>
              <a:buChar char="q"/>
            </a:pPr>
            <a:r>
              <a:rPr lang="en-IN" sz="1800" b="1" dirty="0">
                <a:effectLst/>
                <a:latin typeface="Cambria" panose="02040503050406030204" pitchFamily="18" charset="0"/>
                <a:ea typeface="Calibri" panose="020F0502020204030204" pitchFamily="34" charset="0"/>
                <a:cs typeface="Shruti" panose="020B0502040204020203" pitchFamily="34" charset="0"/>
              </a:rPr>
              <a:t>Enhanced Customer Experience:</a:t>
            </a:r>
            <a:endParaRPr lang="en-IN" sz="1800" b="1" dirty="0">
              <a:effectLst/>
              <a:latin typeface="Calibri" panose="020F0502020204030204" pitchFamily="34" charset="0"/>
              <a:ea typeface="Calibri" panose="020F0502020204030204" pitchFamily="34" charset="0"/>
              <a:cs typeface="Shruti" panose="020B0502040204020203" pitchFamily="34" charset="0"/>
            </a:endParaRPr>
          </a:p>
          <a:p>
            <a:pPr lvl="1"/>
            <a:r>
              <a:rPr lang="en-IN" dirty="0">
                <a:effectLst/>
                <a:latin typeface="Cambria" panose="02040503050406030204" pitchFamily="18" charset="0"/>
                <a:ea typeface="Calibri" panose="020F0502020204030204" pitchFamily="34" charset="0"/>
                <a:cs typeface="Shruti" panose="020B0502040204020203" pitchFamily="34" charset="0"/>
              </a:rPr>
              <a:t>The project's personalized policies and transparent pricing models improve the overall customer experience, increasing customer satisfaction and loyalty.</a:t>
            </a:r>
            <a:endParaRPr lang="en-IN" dirty="0">
              <a:latin typeface="Cambria" panose="02040503050406030204" pitchFamily="18" charset="0"/>
              <a:ea typeface="Cambria" panose="02040503050406030204" pitchFamily="18" charset="0"/>
              <a:cs typeface="Cambria" panose="02040503050406030204" pitchFamily="18" charset="0"/>
            </a:endParaRPr>
          </a:p>
          <a:p>
            <a:pPr marL="285750" indent="-285750" algn="just">
              <a:buFont typeface="Wingdings" panose="05000000000000000000" pitchFamily="2" charset="2"/>
              <a:buChar char="q"/>
            </a:pPr>
            <a:r>
              <a:rPr lang="en-IN" sz="1800" b="1" dirty="0">
                <a:effectLst/>
                <a:latin typeface="Cambria" panose="02040503050406030204" pitchFamily="18" charset="0"/>
                <a:ea typeface="Calibri" panose="020F0502020204030204" pitchFamily="34" charset="0"/>
                <a:cs typeface="Shruti" panose="020B0502040204020203" pitchFamily="34" charset="0"/>
              </a:rPr>
              <a:t>Improved Healthcare Outcomes:</a:t>
            </a:r>
            <a:endParaRPr lang="en-IN" sz="1800" b="1" dirty="0">
              <a:effectLst/>
              <a:latin typeface="Calibri" panose="020F0502020204030204" pitchFamily="34" charset="0"/>
              <a:ea typeface="Calibri" panose="020F0502020204030204" pitchFamily="34" charset="0"/>
              <a:cs typeface="Shruti" panose="020B0502040204020203" pitchFamily="34" charset="0"/>
            </a:endParaRPr>
          </a:p>
          <a:p>
            <a:pPr marL="457200" algn="just"/>
            <a:r>
              <a:rPr lang="en-IN" sz="1800" dirty="0">
                <a:effectLst/>
                <a:latin typeface="Cambria" panose="02040503050406030204" pitchFamily="18" charset="0"/>
                <a:ea typeface="Calibri" panose="020F0502020204030204" pitchFamily="34" charset="0"/>
                <a:cs typeface="Shruti" panose="020B0502040204020203" pitchFamily="34" charset="0"/>
              </a:rPr>
              <a:t>The project's accurate predictions enable insurers to identify high-risk customers and offer targeted interventions, improving healthcare outcomes and reducing healthcare costs</a:t>
            </a:r>
            <a:endParaRPr lang="en-IN" sz="1800" dirty="0">
              <a:effectLst/>
              <a:latin typeface="Calibri" panose="020F0502020204030204" pitchFamily="34" charset="0"/>
              <a:ea typeface="Calibri" panose="020F0502020204030204" pitchFamily="34" charset="0"/>
              <a:cs typeface="Shruti" panose="020B05020402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13810" y="854440"/>
            <a:ext cx="8854189" cy="5632311"/>
          </a:xfrm>
          <a:prstGeom prst="rect">
            <a:avLst/>
          </a:prstGeom>
          <a:noFill/>
        </p:spPr>
        <p:txBody>
          <a:bodyPr wrap="square" rtlCol="0">
            <a:spAutoFit/>
          </a:bodyPr>
          <a:lstStyle/>
          <a:p>
            <a:endParaRPr lang="en-US" sz="2000" b="1" dirty="0"/>
          </a:p>
          <a:p>
            <a:pPr marL="342900" indent="-342900">
              <a:buFont typeface="Wingdings" panose="05000000000000000000" pitchFamily="2" charset="2"/>
              <a:buChar char="v"/>
            </a:pPr>
            <a:endParaRPr lang="en-US" sz="2000" b="1" dirty="0"/>
          </a:p>
          <a:p>
            <a:r>
              <a:rPr lang="en-US" sz="2000" b="1" dirty="0"/>
              <a:t>    </a:t>
            </a:r>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US" sz="2000" b="1" dirty="0"/>
          </a:p>
          <a:p>
            <a:pPr marL="342900" indent="-342900">
              <a:buFont typeface="Wingdings" panose="05000000000000000000" pitchFamily="2" charset="2"/>
              <a:buChar char="v"/>
            </a:pPr>
            <a:endParaRPr lang="en-IN" sz="2000" b="1" dirty="0"/>
          </a:p>
        </p:txBody>
      </p:sp>
      <p:sp>
        <p:nvSpPr>
          <p:cNvPr id="13" name="TextBox 1"/>
          <p:cNvSpPr txBox="1"/>
          <p:nvPr/>
        </p:nvSpPr>
        <p:spPr>
          <a:xfrm>
            <a:off x="1269168" y="1063488"/>
            <a:ext cx="4991724"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buFont typeface="Wingdings" panose="05000000000000000000" pitchFamily="2" charset="2"/>
              <a:buChar char="v"/>
            </a:pPr>
            <a:r>
              <a:rPr lang="en-US" sz="2000" b="1" dirty="0"/>
              <a:t>Limitations:~</a:t>
            </a:r>
            <a:endParaRPr lang="en-IN" sz="2000" b="1" dirty="0"/>
          </a:p>
        </p:txBody>
      </p:sp>
      <p:sp>
        <p:nvSpPr>
          <p:cNvPr id="14" name="TextBox 2"/>
          <p:cNvSpPr txBox="1"/>
          <p:nvPr/>
        </p:nvSpPr>
        <p:spPr>
          <a:xfrm>
            <a:off x="1269168" y="1768025"/>
            <a:ext cx="9653664" cy="362714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lvl="0" indent="-342900" algn="just">
              <a:lnSpc>
                <a:spcPct val="107000"/>
              </a:lnSpc>
              <a:buFont typeface="Wingdings" panose="05000000000000000000" pitchFamily="2" charset="2"/>
              <a:buChar char="q"/>
            </a:pPr>
            <a:r>
              <a:rPr lang="en-US" b="1" dirty="0">
                <a:latin typeface="Cambria" panose="02040503050406030204" pitchFamily="18" charset="0"/>
                <a:ea typeface="Calibri" panose="020F0502020204030204" pitchFamily="34" charset="0"/>
                <a:cs typeface="Shruti" panose="020B0502040204020203" pitchFamily="34" charset="0"/>
              </a:rPr>
              <a:t>Data Quality Issues: </a:t>
            </a:r>
            <a:r>
              <a:rPr lang="en-US" dirty="0">
                <a:latin typeface="Cambria" panose="02040503050406030204" pitchFamily="18" charset="0"/>
                <a:ea typeface="Calibri" panose="020F0502020204030204" pitchFamily="34" charset="0"/>
                <a:cs typeface="Shruti" panose="020B0502040204020203" pitchFamily="34" charset="0"/>
              </a:rPr>
              <a:t>The project's accuracy is dependent on the quality of the data used to train the machine learning models. Poor data quality can lead to inaccurate predictions.</a:t>
            </a:r>
          </a:p>
          <a:p>
            <a:pPr marL="342900" lvl="0" indent="-342900" algn="just">
              <a:lnSpc>
                <a:spcPct val="107000"/>
              </a:lnSpc>
              <a:buFont typeface="+mj-lt"/>
              <a:buAutoNum type="arabicPeriod"/>
            </a:pPr>
            <a:endParaRPr lang="en-US" dirty="0">
              <a:latin typeface="Cambria" panose="02040503050406030204" pitchFamily="18" charset="0"/>
              <a:ea typeface="Calibri" panose="020F0502020204030204" pitchFamily="34" charset="0"/>
              <a:cs typeface="Shruti" panose="020B0502040204020203" pitchFamily="34" charset="0"/>
            </a:endParaRPr>
          </a:p>
          <a:p>
            <a:pPr marL="342900" indent="-342900" algn="just">
              <a:lnSpc>
                <a:spcPct val="107000"/>
              </a:lnSpc>
              <a:buFont typeface="Wingdings" panose="05000000000000000000" pitchFamily="2" charset="2"/>
              <a:buChar char="q"/>
            </a:pPr>
            <a:r>
              <a:rPr lang="en-US" b="1" dirty="0">
                <a:latin typeface="Cambria" panose="02040503050406030204" pitchFamily="18" charset="0"/>
                <a:ea typeface="Calibri" panose="020F0502020204030204" pitchFamily="34" charset="0"/>
                <a:cs typeface="Shruti" panose="020B0502040204020203" pitchFamily="34" charset="0"/>
              </a:rPr>
              <a:t>Customer Acceptance: </a:t>
            </a:r>
            <a:r>
              <a:rPr lang="en-US" dirty="0">
                <a:latin typeface="Cambria" panose="02040503050406030204" pitchFamily="18" charset="0"/>
                <a:ea typeface="Calibri" panose="020F0502020204030204" pitchFamily="34" charset="0"/>
                <a:cs typeface="Shruti" panose="020B0502040204020203" pitchFamily="34" charset="0"/>
              </a:rPr>
              <a:t>Some customers may be resistant to the use of machine learning algorithms and data analytics in insurance pricing, which can affect adoption rates.</a:t>
            </a:r>
            <a:endParaRPr lang="en-IN" dirty="0">
              <a:latin typeface="Cambria" panose="02040503050406030204" pitchFamily="18" charset="0"/>
              <a:ea typeface="Calibri" panose="020F0502020204030204" pitchFamily="34" charset="0"/>
              <a:cs typeface="Shruti" panose="020B0502040204020203" pitchFamily="34" charset="0"/>
            </a:endParaRPr>
          </a:p>
          <a:p>
            <a:pPr marL="342900" lvl="0" indent="-342900" algn="just">
              <a:lnSpc>
                <a:spcPct val="107000"/>
              </a:lnSpc>
              <a:buFont typeface="+mj-lt"/>
              <a:buAutoNum type="arabicPeriod"/>
            </a:pPr>
            <a:endParaRPr lang="en-US" dirty="0">
              <a:latin typeface="Cambria" panose="02040503050406030204" pitchFamily="18" charset="0"/>
              <a:ea typeface="Calibri" panose="020F0502020204030204" pitchFamily="34" charset="0"/>
              <a:cs typeface="Shruti" panose="020B0502040204020203" pitchFamily="34" charset="0"/>
            </a:endParaRPr>
          </a:p>
          <a:p>
            <a:pPr marL="342900" lvl="0" indent="-342900" algn="just">
              <a:lnSpc>
                <a:spcPct val="107000"/>
              </a:lnSpc>
              <a:buFont typeface="Wingdings" panose="05000000000000000000" pitchFamily="2" charset="2"/>
              <a:buChar char="q"/>
            </a:pPr>
            <a:r>
              <a:rPr lang="en-US" b="1" dirty="0">
                <a:latin typeface="Cambria" panose="02040503050406030204" pitchFamily="18" charset="0"/>
                <a:ea typeface="Calibri" panose="020F0502020204030204" pitchFamily="34" charset="0"/>
                <a:cs typeface="Shruti" panose="020B0502040204020203" pitchFamily="34" charset="0"/>
              </a:rPr>
              <a:t>Model Maintenance:</a:t>
            </a:r>
            <a:r>
              <a:rPr lang="en-US" dirty="0">
                <a:latin typeface="Cambria" panose="02040503050406030204" pitchFamily="18" charset="0"/>
                <a:ea typeface="Calibri" panose="020F0502020204030204" pitchFamily="34" charset="0"/>
                <a:cs typeface="Shruti" panose="020B0502040204020203" pitchFamily="34" charset="0"/>
              </a:rPr>
              <a:t> The project's machine learning models require ongoing maintenance and updates to ensure they remain accurate and effective, which can be resource-intensive.</a:t>
            </a:r>
          </a:p>
          <a:p>
            <a:pPr marL="342900" lvl="0" indent="-342900" algn="just">
              <a:lnSpc>
                <a:spcPct val="107000"/>
              </a:lnSpc>
              <a:buFont typeface="+mj-lt"/>
              <a:buAutoNum type="arabicPeriod"/>
            </a:pPr>
            <a:endParaRPr lang="en-IN" dirty="0">
              <a:latin typeface="Cambria" panose="02040503050406030204" pitchFamily="18" charset="0"/>
              <a:ea typeface="Calibri" panose="020F0502020204030204" pitchFamily="34" charset="0"/>
              <a:cs typeface="Shruti" panose="020B0502040204020203" pitchFamily="34" charset="0"/>
            </a:endParaRPr>
          </a:p>
          <a:p>
            <a:pPr marL="342900" indent="-342900" algn="just">
              <a:lnSpc>
                <a:spcPct val="107000"/>
              </a:lnSpc>
              <a:spcAft>
                <a:spcPts val="800"/>
              </a:spcAft>
              <a:buFont typeface="Wingdings" panose="05000000000000000000" pitchFamily="2" charset="2"/>
              <a:buChar char="q"/>
            </a:pPr>
            <a:r>
              <a:rPr lang="en-US" b="1" dirty="0">
                <a:latin typeface="Cambria" panose="02040503050406030204" pitchFamily="18" charset="0"/>
                <a:ea typeface="Calibri" panose="020F0502020204030204" pitchFamily="34" charset="0"/>
                <a:cs typeface="Shruti" panose="020B0502040204020203" pitchFamily="34" charset="0"/>
              </a:rPr>
              <a:t>Cybersecurity Risks:</a:t>
            </a:r>
            <a:r>
              <a:rPr lang="en-US" dirty="0">
                <a:latin typeface="Cambria" panose="02040503050406030204" pitchFamily="18" charset="0"/>
                <a:ea typeface="Calibri" panose="020F0502020204030204" pitchFamily="34" charset="0"/>
                <a:cs typeface="Shruti" panose="020B0502040204020203" pitchFamily="34" charset="0"/>
              </a:rPr>
              <a:t> The project's use of cloud-based infrastructure and data analytics increases the risk of cybersecurity breaches, which can compromise sensitive customer information.</a:t>
            </a:r>
            <a:endParaRPr lang="en-IN" dirty="0">
              <a:latin typeface="Cambria" panose="02040503050406030204" pitchFamily="18" charset="0"/>
              <a:ea typeface="Calibri" panose="020F0502020204030204" pitchFamily="34" charset="0"/>
              <a:cs typeface="Shruti" panose="020B05020402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63909" y="524656"/>
            <a:ext cx="5786202" cy="523220"/>
          </a:xfrm>
          <a:prstGeom prst="rect">
            <a:avLst/>
          </a:prstGeom>
          <a:scene3d>
            <a:camera prst="orthographicFront"/>
            <a:lightRig rig="threePt" dir="t"/>
          </a:scene3d>
          <a:sp3d>
            <a:bevelT prst="relaxedInset"/>
          </a:sp3d>
        </p:spPr>
        <p:style>
          <a:lnRef idx="1">
            <a:schemeClr val="accent2"/>
          </a:lnRef>
          <a:fillRef idx="2">
            <a:schemeClr val="accent2"/>
          </a:fillRef>
          <a:effectRef idx="1">
            <a:schemeClr val="accent2"/>
          </a:effectRef>
          <a:fontRef idx="minor">
            <a:schemeClr val="dk1"/>
          </a:fontRef>
        </p:style>
        <p:txBody>
          <a:bodyPr wrap="square" rtlCol="0">
            <a:spAutoFit/>
          </a:bodyPr>
          <a:lstStyle/>
          <a:p>
            <a:pPr marL="457200" indent="-457200">
              <a:buFont typeface="Wingdings" panose="05000000000000000000" pitchFamily="2" charset="2"/>
              <a:buChar char="v"/>
            </a:pPr>
            <a:r>
              <a:rPr lang="en-US" sz="2800" dirty="0"/>
              <a:t>Over view the Features Of ICP:-</a:t>
            </a:r>
            <a:endParaRPr lang="en-IN" sz="2800" dirty="0"/>
          </a:p>
        </p:txBody>
      </p:sp>
      <p:sp>
        <p:nvSpPr>
          <p:cNvPr id="4" name="TextBox 3"/>
          <p:cNvSpPr txBox="1"/>
          <p:nvPr/>
        </p:nvSpPr>
        <p:spPr>
          <a:xfrm>
            <a:off x="1528998" y="1603948"/>
            <a:ext cx="10133350" cy="5077865"/>
          </a:xfrm>
          <a:prstGeom prst="rect">
            <a:avLst/>
          </a:prstGeom>
          <a:noFill/>
        </p:spPr>
        <p:txBody>
          <a:bodyPr wrap="square" rtlCol="0">
            <a:spAutoFit/>
          </a:bodyPr>
          <a:lstStyle/>
          <a:p>
            <a:pPr marL="285750" marR="1849120" lvl="0" indent="-285750" fontAlgn="base">
              <a:lnSpc>
                <a:spcPct val="107000"/>
              </a:lnSpc>
              <a:spcAft>
                <a:spcPts val="70"/>
              </a:spcAft>
              <a:buClr>
                <a:srgbClr val="000000"/>
              </a:buClr>
              <a:buSzPts val="1200"/>
              <a:buFont typeface="Wingdings" panose="05000000000000000000" pitchFamily="2" charset="2"/>
              <a:buChar char="q"/>
            </a:pPr>
            <a:r>
              <a:rPr lang="en-IN" b="1" u="none" strike="noStrike" dirty="0">
                <a:effectLst/>
                <a:uFill>
                  <a:solidFill>
                    <a:srgbClr val="000000"/>
                  </a:solidFill>
                </a:uFill>
                <a:latin typeface="Cambria" panose="02040503050406030204" pitchFamily="18" charset="0"/>
                <a:ea typeface="Times New Roman" panose="02020603050405020304" pitchFamily="18" charset="0"/>
                <a:cs typeface="Times New Roman" panose="02020603050405020304" pitchFamily="18" charset="0"/>
              </a:rPr>
              <a:t>Model Improvement: </a:t>
            </a:r>
            <a:endParaRPr lang="en-IN" u="none" strike="noStrike" dirty="0">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marL="742950" marR="135890" lvl="1" indent="-285750" algn="just" fontAlgn="base">
              <a:lnSpc>
                <a:spcPct val="111000"/>
              </a:lnSpc>
              <a:spcAft>
                <a:spcPts val="285"/>
              </a:spcAft>
              <a:buClr>
                <a:srgbClr val="000000"/>
              </a:buClr>
              <a:buSzPts val="1200"/>
              <a:buFont typeface="Courier New" panose="02070309020205020404" pitchFamily="49" charset="0"/>
              <a:buChar char="o"/>
            </a:pPr>
            <a:r>
              <a:rPr lang="en-IN" sz="1600" b="1" u="none" strike="noStrike" dirty="0">
                <a:effectLst/>
                <a:uFill>
                  <a:solidFill>
                    <a:srgbClr val="000000"/>
                  </a:solidFill>
                </a:uFill>
                <a:latin typeface="Cambria" panose="02040503050406030204" pitchFamily="18" charset="0"/>
                <a:ea typeface="Courier New" panose="02070309020205020404" pitchFamily="49" charset="0"/>
                <a:cs typeface="Courier New" panose="02070309020205020404" pitchFamily="49" charset="0"/>
              </a:rPr>
              <a:t>Feature Engineering: </a:t>
            </a:r>
            <a:r>
              <a:rPr lang="en-IN" sz="1600" u="none" strike="noStrike" dirty="0">
                <a:effectLst/>
                <a:uFill>
                  <a:solidFill>
                    <a:srgbClr val="000000"/>
                  </a:solidFill>
                </a:uFill>
                <a:latin typeface="Cambria" panose="02040503050406030204" pitchFamily="18" charset="0"/>
                <a:ea typeface="Courier New" panose="02070309020205020404" pitchFamily="49" charset="0"/>
                <a:cs typeface="Courier New" panose="02070309020205020404" pitchFamily="49" charset="0"/>
              </a:rPr>
              <a:t>Create additional features or interactions between features that may improve model performance. </a:t>
            </a:r>
            <a:endParaRPr lang="en-IN" sz="1600" u="none" strike="noStrike" dirty="0">
              <a:effectLst/>
              <a:uFill>
                <a:solidFill>
                  <a:srgbClr val="000000"/>
                </a:solidFill>
              </a:uFill>
              <a:latin typeface="Courier New" panose="02070309020205020404" pitchFamily="49" charset="0"/>
              <a:ea typeface="Courier New" panose="02070309020205020404" pitchFamily="49" charset="0"/>
              <a:cs typeface="Courier New" panose="02070309020205020404" pitchFamily="49" charset="0"/>
            </a:endParaRPr>
          </a:p>
          <a:p>
            <a:pPr marL="742950" marR="135890" lvl="1" indent="-285750" algn="just" fontAlgn="base">
              <a:lnSpc>
                <a:spcPct val="111000"/>
              </a:lnSpc>
              <a:spcAft>
                <a:spcPts val="20"/>
              </a:spcAft>
              <a:buClr>
                <a:srgbClr val="000000"/>
              </a:buClr>
              <a:buSzPts val="1200"/>
              <a:buFont typeface="Courier New" panose="02070309020205020404" pitchFamily="49" charset="0"/>
              <a:buChar char="o"/>
            </a:pPr>
            <a:r>
              <a:rPr lang="en-IN" sz="1600" b="1" u="none" strike="noStrike" dirty="0">
                <a:effectLst/>
                <a:uFill>
                  <a:solidFill>
                    <a:srgbClr val="000000"/>
                  </a:solidFill>
                </a:uFill>
                <a:latin typeface="Cambria" panose="02040503050406030204" pitchFamily="18" charset="0"/>
                <a:ea typeface="Courier New" panose="02070309020205020404" pitchFamily="49" charset="0"/>
                <a:cs typeface="Courier New" panose="02070309020205020404" pitchFamily="49" charset="0"/>
              </a:rPr>
              <a:t>Advanced Models: </a:t>
            </a:r>
            <a:r>
              <a:rPr lang="en-IN" sz="1600" u="none" strike="noStrike" dirty="0">
                <a:effectLst/>
                <a:uFill>
                  <a:solidFill>
                    <a:srgbClr val="000000"/>
                  </a:solidFill>
                </a:uFill>
                <a:latin typeface="Cambria" panose="02040503050406030204" pitchFamily="18" charset="0"/>
                <a:ea typeface="Courier New" panose="02070309020205020404" pitchFamily="49" charset="0"/>
                <a:cs typeface="Courier New" panose="02070309020205020404" pitchFamily="49" charset="0"/>
              </a:rPr>
              <a:t>Explore more complex models such as Ridge or Lasso regression, decision trees, random forests, or gradient boosting algorithms for potentially better results.</a:t>
            </a:r>
            <a:endParaRPr lang="en-IN" sz="1600" u="none" strike="noStrike" dirty="0">
              <a:effectLst/>
              <a:uFill>
                <a:solidFill>
                  <a:srgbClr val="000000"/>
                </a:solidFill>
              </a:uFill>
              <a:latin typeface="Courier New" panose="02070309020205020404" pitchFamily="49" charset="0"/>
              <a:ea typeface="Courier New" panose="02070309020205020404" pitchFamily="49" charset="0"/>
              <a:cs typeface="Courier New" panose="02070309020205020404" pitchFamily="49" charset="0"/>
            </a:endParaRPr>
          </a:p>
          <a:p>
            <a:pPr lvl="0" algn="just">
              <a:spcBef>
                <a:spcPts val="295"/>
              </a:spcBef>
              <a:spcAft>
                <a:spcPts val="0"/>
              </a:spcAft>
            </a:pPr>
            <a:endParaRPr lang="en-US" sz="1800" b="1" u="sng" dirty="0">
              <a:effectLst/>
              <a:latin typeface="Cambria" panose="02040503050406030204" pitchFamily="18" charset="0"/>
              <a:ea typeface="Cambria" panose="02040503050406030204" pitchFamily="18" charset="0"/>
              <a:cs typeface="Cambria" panose="02040503050406030204" pitchFamily="18" charset="0"/>
            </a:endParaRPr>
          </a:p>
          <a:p>
            <a:pPr marL="285750" marR="1849120" lvl="0" indent="-285750" fontAlgn="base">
              <a:lnSpc>
                <a:spcPct val="107000"/>
              </a:lnSpc>
              <a:spcAft>
                <a:spcPts val="70"/>
              </a:spcAft>
              <a:buClr>
                <a:srgbClr val="000000"/>
              </a:buClr>
              <a:buSzPts val="1200"/>
              <a:buFont typeface="Wingdings" panose="05000000000000000000" pitchFamily="2" charset="2"/>
              <a:buChar char="q"/>
            </a:pPr>
            <a:r>
              <a:rPr lang="en-IN" sz="1800" b="1" u="none" strike="noStrike" dirty="0">
                <a:effectLst/>
                <a:uFill>
                  <a:solidFill>
                    <a:srgbClr val="000000"/>
                  </a:solidFill>
                </a:uFill>
                <a:latin typeface="Cambria" panose="02040503050406030204" pitchFamily="18" charset="0"/>
                <a:ea typeface="Times New Roman" panose="02020603050405020304" pitchFamily="18" charset="0"/>
                <a:cs typeface="Times New Roman" panose="02020603050405020304" pitchFamily="18" charset="0"/>
              </a:rPr>
              <a:t>Data Enrichment: </a:t>
            </a:r>
            <a:endParaRPr lang="en-IN" b="1" dirty="0">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marL="742950" marR="1849120" lvl="1" indent="-285750" fontAlgn="base">
              <a:lnSpc>
                <a:spcPct val="107000"/>
              </a:lnSpc>
              <a:spcAft>
                <a:spcPts val="70"/>
              </a:spcAft>
              <a:buClr>
                <a:srgbClr val="000000"/>
              </a:buClr>
              <a:buSzPts val="1200"/>
              <a:buFont typeface="Courier New" panose="02070309020205020404" pitchFamily="49" charset="0"/>
              <a:buChar char="o"/>
            </a:pPr>
            <a:r>
              <a:rPr lang="en-IN" dirty="0">
                <a:effectLst/>
                <a:latin typeface="Cambria" panose="02040503050406030204" pitchFamily="18" charset="0"/>
                <a:ea typeface="Calibri" panose="020F0502020204030204" pitchFamily="34" charset="0"/>
                <a:cs typeface="Shruti" panose="020B0502040204020203" pitchFamily="34" charset="0"/>
              </a:rPr>
              <a:t>Collect more data or include additional features that might impact diamond prices, such as market trends, brand, or diamond shape. </a:t>
            </a:r>
            <a:endParaRPr lang="en-US" dirty="0">
              <a:effectLst/>
              <a:latin typeface="Cambria" panose="02040503050406030204" pitchFamily="18" charset="0"/>
              <a:ea typeface="Cambria" panose="02040503050406030204" pitchFamily="18" charset="0"/>
              <a:cs typeface="Cambria" panose="02040503050406030204" pitchFamily="18" charset="0"/>
            </a:endParaRPr>
          </a:p>
          <a:p>
            <a:pPr marR="1849120" lvl="0" fontAlgn="base">
              <a:lnSpc>
                <a:spcPct val="107000"/>
              </a:lnSpc>
              <a:spcAft>
                <a:spcPts val="70"/>
              </a:spcAft>
              <a:buClr>
                <a:srgbClr val="000000"/>
              </a:buClr>
              <a:buSzPts val="1200"/>
            </a:pPr>
            <a:endParaRPr lang="en-IN" b="1" u="none" strike="noStrike" dirty="0">
              <a:effectLst/>
              <a:uFill>
                <a:solidFill>
                  <a:srgbClr val="000000"/>
                </a:solidFill>
              </a:uFill>
              <a:latin typeface="Cambria" panose="02040503050406030204" pitchFamily="18" charset="0"/>
              <a:ea typeface="Cambria" panose="02040503050406030204" pitchFamily="18" charset="0"/>
              <a:cs typeface="Times New Roman" panose="02020603050405020304" pitchFamily="18" charset="0"/>
            </a:endParaRPr>
          </a:p>
          <a:p>
            <a:pPr marL="285750" marR="1849120" lvl="0" indent="-285750" fontAlgn="base">
              <a:lnSpc>
                <a:spcPct val="107000"/>
              </a:lnSpc>
              <a:spcAft>
                <a:spcPts val="70"/>
              </a:spcAft>
              <a:buClr>
                <a:srgbClr val="000000"/>
              </a:buClr>
              <a:buSzPts val="1200"/>
              <a:buFont typeface="Wingdings" panose="05000000000000000000" pitchFamily="2" charset="2"/>
              <a:buChar char="q"/>
            </a:pPr>
            <a:r>
              <a:rPr lang="en-IN" b="1" u="none" strike="noStrike" dirty="0">
                <a:effectLst/>
                <a:uFill>
                  <a:solidFill>
                    <a:srgbClr val="000000"/>
                  </a:solidFill>
                </a:uFill>
                <a:latin typeface="Cambria" panose="02040503050406030204" pitchFamily="18" charset="0"/>
                <a:ea typeface="Cambria" panose="02040503050406030204" pitchFamily="18" charset="0"/>
                <a:cs typeface="Times New Roman" panose="02020603050405020304" pitchFamily="18" charset="0"/>
              </a:rPr>
              <a:t>Deployment: </a:t>
            </a:r>
            <a:endParaRPr lang="en-IN" sz="1600" u="none" strike="noStrike" dirty="0">
              <a:effectLst/>
              <a:uFill>
                <a:solidFill>
                  <a:srgbClr val="000000"/>
                </a:solidFill>
              </a:uFill>
              <a:latin typeface="Cambria" panose="02040503050406030204" pitchFamily="18" charset="0"/>
              <a:ea typeface="Cambria" panose="02040503050406030204" pitchFamily="18" charset="0"/>
              <a:cs typeface="Times New Roman" panose="02020603050405020304" pitchFamily="18" charset="0"/>
            </a:endParaRPr>
          </a:p>
          <a:p>
            <a:pPr marL="742950" marR="135890" lvl="1" indent="-285750" algn="just" fontAlgn="base">
              <a:lnSpc>
                <a:spcPct val="111000"/>
              </a:lnSpc>
              <a:spcAft>
                <a:spcPts val="20"/>
              </a:spcAft>
              <a:buClr>
                <a:srgbClr val="000000"/>
              </a:buClr>
              <a:buSzPts val="1200"/>
              <a:buFont typeface="Courier New" panose="02070309020205020404" pitchFamily="49" charset="0"/>
              <a:buChar char="o"/>
            </a:pPr>
            <a:r>
              <a:rPr lang="en-IN" sz="1600" u="none" strike="noStrike" dirty="0">
                <a:effectLst/>
                <a:uFill>
                  <a:solidFill>
                    <a:srgbClr val="000000"/>
                  </a:solidFill>
                </a:uFill>
                <a:latin typeface="Cambria" panose="02040503050406030204" pitchFamily="18" charset="0"/>
                <a:ea typeface="Cambria" panose="02040503050406030204" pitchFamily="18" charset="0"/>
                <a:cs typeface="Courier New" panose="02070309020205020404" pitchFamily="49" charset="0"/>
              </a:rPr>
              <a:t>Develop a user-friendly interface for the model, potentially using Streamlit or other frameworks, to allow users to input diamond features and receive price predictions. </a:t>
            </a:r>
          </a:p>
          <a:p>
            <a:pPr lvl="0" algn="just">
              <a:spcBef>
                <a:spcPts val="295"/>
              </a:spcBef>
              <a:spcAft>
                <a:spcPts val="0"/>
              </a:spcAft>
            </a:pPr>
            <a:endParaRPr lang="en-US" sz="1800" dirty="0">
              <a:effectLst/>
              <a:latin typeface="Cambria" panose="02040503050406030204" pitchFamily="18" charset="0"/>
              <a:ea typeface="Cambria" panose="02040503050406030204" pitchFamily="18" charset="0"/>
              <a:cs typeface="Cambria" panose="02040503050406030204" pitchFamily="18" charset="0"/>
            </a:endParaRPr>
          </a:p>
          <a:p>
            <a:pPr marL="285750" marR="1849120" lvl="0" indent="-285750" fontAlgn="base">
              <a:lnSpc>
                <a:spcPct val="107000"/>
              </a:lnSpc>
              <a:spcAft>
                <a:spcPts val="70"/>
              </a:spcAft>
              <a:buClr>
                <a:srgbClr val="000000"/>
              </a:buClr>
              <a:buSzPts val="1200"/>
              <a:buFont typeface="Wingdings" panose="05000000000000000000" pitchFamily="2" charset="2"/>
              <a:buChar char="q"/>
            </a:pPr>
            <a:r>
              <a:rPr lang="en-IN" b="1" u="none" strike="noStrike" dirty="0">
                <a:effectLst/>
                <a:uFill>
                  <a:solidFill>
                    <a:srgbClr val="000000"/>
                  </a:solidFill>
                </a:uFill>
                <a:latin typeface="Cambria" panose="02040503050406030204" pitchFamily="18" charset="0"/>
                <a:ea typeface="Cambria" panose="02040503050406030204" pitchFamily="18" charset="0"/>
                <a:cs typeface="Times New Roman" panose="02020603050405020304" pitchFamily="18" charset="0"/>
              </a:rPr>
              <a:t>Model Evaluation: </a:t>
            </a:r>
            <a:endParaRPr lang="en-IN" sz="1600" u="none" strike="noStrike" dirty="0">
              <a:effectLst/>
              <a:uFill>
                <a:solidFill>
                  <a:srgbClr val="000000"/>
                </a:solidFill>
              </a:uFill>
              <a:latin typeface="Cambria" panose="02040503050406030204" pitchFamily="18" charset="0"/>
              <a:ea typeface="Cambria" panose="02040503050406030204" pitchFamily="18" charset="0"/>
              <a:cs typeface="Times New Roman" panose="02020603050405020304" pitchFamily="18" charset="0"/>
            </a:endParaRPr>
          </a:p>
          <a:p>
            <a:pPr marL="742950" marR="135890" lvl="1" indent="-285750" algn="just" fontAlgn="base">
              <a:lnSpc>
                <a:spcPct val="111000"/>
              </a:lnSpc>
              <a:spcAft>
                <a:spcPts val="20"/>
              </a:spcAft>
              <a:buClr>
                <a:srgbClr val="000000"/>
              </a:buClr>
              <a:buSzPts val="1200"/>
              <a:buFont typeface="Courier New" panose="02070309020205020404" pitchFamily="49" charset="0"/>
              <a:buChar char="o"/>
            </a:pPr>
            <a:r>
              <a:rPr lang="en-IN" sz="1600" u="none" strike="noStrike" dirty="0">
                <a:effectLst/>
                <a:uFill>
                  <a:solidFill>
                    <a:srgbClr val="000000"/>
                  </a:solidFill>
                </a:uFill>
                <a:latin typeface="Cambria" panose="02040503050406030204" pitchFamily="18" charset="0"/>
                <a:ea typeface="Cambria" panose="02040503050406030204" pitchFamily="18" charset="0"/>
                <a:cs typeface="Courier New" panose="02070309020205020404" pitchFamily="49" charset="0"/>
              </a:rPr>
              <a:t>Continuously evaluate the model's performance with new data and refine the model as needed based on real-world feedback and additional data.</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63594" y="851743"/>
            <a:ext cx="4487108" cy="523220"/>
          </a:xfrm>
          <a:prstGeom prst="rect">
            <a:avLst/>
          </a:prstGeom>
          <a:solidFill>
            <a:schemeClr val="accent1">
              <a:alpha val="50000"/>
            </a:schemeClr>
          </a:solidFill>
          <a:ln>
            <a:noFill/>
          </a:ln>
          <a:scene3d>
            <a:camera prst="orthographicFront"/>
            <a:lightRig rig="threePt" dir="t"/>
          </a:scene3d>
          <a:sp3d>
            <a:bevelT prst="relaxedInset"/>
          </a:sp3d>
        </p:spPr>
        <p:style>
          <a:lnRef idx="0">
            <a:scrgbClr r="0" g="0" b="0"/>
          </a:lnRef>
          <a:fillRef idx="0">
            <a:scrgbClr r="0" g="0" b="0"/>
          </a:fillRef>
          <a:effectRef idx="0">
            <a:scrgbClr r="0" g="0" b="0"/>
          </a:effectRef>
          <a:fontRef idx="minor">
            <a:schemeClr val="lt1"/>
          </a:fontRef>
        </p:style>
        <p:txBody>
          <a:bodyPr wrap="square" rtlCol="0">
            <a:spAutoFit/>
          </a:bodyPr>
          <a:lstStyle/>
          <a:p>
            <a:pPr marL="457200" indent="-457200">
              <a:buFont typeface="Wingdings" panose="05000000000000000000" pitchFamily="2" charset="2"/>
              <a:buChar char="v"/>
            </a:pPr>
            <a:r>
              <a:rPr lang="en-US" sz="2800" dirty="0">
                <a:solidFill>
                  <a:schemeClr val="tx1"/>
                </a:solidFill>
              </a:rPr>
              <a:t>Need of this project:-</a:t>
            </a:r>
            <a:endParaRPr lang="en-IN" sz="2000" dirty="0">
              <a:solidFill>
                <a:schemeClr val="tx1"/>
              </a:solidFill>
            </a:endParaRPr>
          </a:p>
        </p:txBody>
      </p:sp>
      <p:sp>
        <p:nvSpPr>
          <p:cNvPr id="5" name="TextBox 4"/>
          <p:cNvSpPr txBox="1"/>
          <p:nvPr/>
        </p:nvSpPr>
        <p:spPr>
          <a:xfrm>
            <a:off x="637969" y="1374963"/>
            <a:ext cx="10638503" cy="4801314"/>
          </a:xfrm>
          <a:prstGeom prst="rect">
            <a:avLst/>
          </a:prstGeom>
          <a:noFill/>
        </p:spPr>
        <p:txBody>
          <a:bodyPr wrap="square" rtlCol="0">
            <a:spAutoFit/>
          </a:bodyPr>
          <a:lstStyle/>
          <a:p>
            <a:pPr marL="1257300" lvl="2" indent="-342900" algn="just">
              <a:buFont typeface="+mj-lt"/>
              <a:buAutoNum type="arabicPeriod"/>
            </a:pPr>
            <a:endParaRPr lang="en-US" b="1" dirty="0"/>
          </a:p>
          <a:p>
            <a:pPr marL="1200150" lvl="2" indent="-285750" algn="just">
              <a:buFont typeface="Wingdings" panose="05000000000000000000" pitchFamily="2" charset="2"/>
              <a:buChar char="q"/>
            </a:pPr>
            <a:r>
              <a:rPr lang="en-US" b="1" dirty="0">
                <a:latin typeface="Cambria" panose="02040503050406030204" pitchFamily="18" charset="0"/>
                <a:ea typeface="Cambria" panose="02040503050406030204" pitchFamily="18" charset="0"/>
              </a:rPr>
              <a:t>Accurate risk assessment: </a:t>
            </a:r>
          </a:p>
          <a:p>
            <a:pPr lvl="3" algn="just"/>
            <a:r>
              <a:rPr lang="en-US" dirty="0">
                <a:latin typeface="Cambria" panose="02040503050406030204" pitchFamily="18" charset="0"/>
                <a:ea typeface="Cambria" panose="02040503050406030204" pitchFamily="18" charset="0"/>
              </a:rPr>
              <a:t>Machine learning algorithms can analyze large datasets to identify patterns and predict insurance costs with higher accuracy.</a:t>
            </a:r>
          </a:p>
          <a:p>
            <a:pPr marL="1257300" lvl="2" indent="-342900" algn="just">
              <a:buFont typeface="Wingdings" panose="05000000000000000000" pitchFamily="2" charset="2"/>
              <a:buChar char="q"/>
            </a:pPr>
            <a:r>
              <a:rPr lang="en-US" b="1" dirty="0">
                <a:latin typeface="Cambria" panose="02040503050406030204" pitchFamily="18" charset="0"/>
                <a:ea typeface="Cambria" panose="02040503050406030204" pitchFamily="18" charset="0"/>
              </a:rPr>
              <a:t>Personalized policies: </a:t>
            </a:r>
          </a:p>
          <a:p>
            <a:pPr lvl="3" algn="just"/>
            <a:r>
              <a:rPr lang="en-US" dirty="0">
                <a:latin typeface="Cambria" panose="02040503050406030204" pitchFamily="18" charset="0"/>
                <a:ea typeface="Cambria" panose="02040503050406030204" pitchFamily="18" charset="0"/>
              </a:rPr>
              <a:t>By predicting insurance costs, insurers can offer customized policies that cater to individual needs and risk profiles.</a:t>
            </a:r>
          </a:p>
          <a:p>
            <a:pPr marL="1200150" lvl="2" indent="-285750" algn="just">
              <a:buFont typeface="Wingdings" panose="05000000000000000000" pitchFamily="2" charset="2"/>
              <a:buChar char="q"/>
            </a:pPr>
            <a:r>
              <a:rPr lang="en-US" b="1" dirty="0">
                <a:latin typeface="Cambria" panose="02040503050406030204" pitchFamily="18" charset="0"/>
                <a:ea typeface="Cambria" panose="02040503050406030204" pitchFamily="18" charset="0"/>
              </a:rPr>
              <a:t>Cost reduction: </a:t>
            </a:r>
          </a:p>
          <a:p>
            <a:pPr lvl="3" algn="just"/>
            <a:r>
              <a:rPr lang="en-US" dirty="0">
                <a:latin typeface="Cambria" panose="02040503050406030204" pitchFamily="18" charset="0"/>
                <a:ea typeface="Cambria" panose="02040503050406030204" pitchFamily="18" charset="0"/>
              </a:rPr>
              <a:t>Accurate predictions enable insurers to identify areas of high risk and develop targeted interventions to reduce costs.</a:t>
            </a:r>
          </a:p>
          <a:p>
            <a:pPr marL="1200150" lvl="2" indent="-285750" algn="just">
              <a:buFont typeface="Wingdings" panose="05000000000000000000" pitchFamily="2" charset="2"/>
              <a:buChar char="q"/>
            </a:pPr>
            <a:r>
              <a:rPr lang="en-US" b="1" dirty="0">
                <a:latin typeface="Cambria" panose="02040503050406030204" pitchFamily="18" charset="0"/>
                <a:ea typeface="Cambria" panose="02040503050406030204" pitchFamily="18" charset="0"/>
              </a:rPr>
              <a:t>Improved customer satisfaction:</a:t>
            </a:r>
          </a:p>
          <a:p>
            <a:pPr lvl="3" algn="just"/>
            <a:r>
              <a:rPr lang="en-US" dirty="0">
                <a:latin typeface="Cambria" panose="02040503050406030204" pitchFamily="18" charset="0"/>
                <a:ea typeface="Cambria" panose="02040503050406030204" pitchFamily="18" charset="0"/>
              </a:rPr>
              <a:t>Personalized policies and transparent pricing models can lead to increased customer satisfaction and loyalty.</a:t>
            </a:r>
          </a:p>
          <a:p>
            <a:pPr marL="1200150" lvl="2" indent="-285750" algn="just">
              <a:buFont typeface="Wingdings" panose="05000000000000000000" pitchFamily="2" charset="2"/>
              <a:buChar char="q"/>
            </a:pPr>
            <a:r>
              <a:rPr lang="en-US" b="1" dirty="0">
                <a:latin typeface="Cambria" panose="02040503050406030204" pitchFamily="18" charset="0"/>
                <a:ea typeface="Cambria" panose="02040503050406030204" pitchFamily="18" charset="0"/>
              </a:rPr>
              <a:t>Competitive advantage: </a:t>
            </a:r>
          </a:p>
          <a:p>
            <a:pPr lvl="3" algn="just"/>
            <a:r>
              <a:rPr lang="en-US" dirty="0">
                <a:latin typeface="Cambria" panose="02040503050406030204" pitchFamily="18" charset="0"/>
                <a:ea typeface="Cambria" panose="02040503050406030204" pitchFamily="18" charset="0"/>
              </a:rPr>
              <a:t>Insurers that adopt machine learning-based insurance charges prediction can gain a competitive advantage in the market.</a:t>
            </a:r>
          </a:p>
          <a:p>
            <a:pPr marL="1257300" lvl="2" indent="-342900" algn="just">
              <a:buFont typeface="+mj-lt"/>
              <a:buAutoNum type="arabicPeriod"/>
            </a:pP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3449" y="929389"/>
            <a:ext cx="2763187" cy="523220"/>
          </a:xfrm>
          <a:prstGeom prst="rect">
            <a:avLst/>
          </a:prstGeom>
          <a:scene3d>
            <a:camera prst="orthographicFront"/>
            <a:lightRig rig="threePt" dir="t"/>
          </a:scene3d>
          <a:sp3d>
            <a:bevelT prst="relaxedInset"/>
          </a:sp3d>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marL="457200" indent="-457200">
              <a:buFont typeface="Wingdings" panose="05000000000000000000" pitchFamily="2" charset="2"/>
              <a:buChar char="v"/>
            </a:pPr>
            <a:r>
              <a:rPr lang="en-US" sz="2800" dirty="0">
                <a:solidFill>
                  <a:schemeClr val="tx1"/>
                </a:solidFill>
              </a:rPr>
              <a:t>Conclusion:-</a:t>
            </a:r>
            <a:endParaRPr lang="en-IN" sz="2800" dirty="0">
              <a:solidFill>
                <a:schemeClr val="tx1"/>
              </a:solidFill>
            </a:endParaRPr>
          </a:p>
        </p:txBody>
      </p:sp>
      <p:sp>
        <p:nvSpPr>
          <p:cNvPr id="3" name="TextBox 2"/>
          <p:cNvSpPr txBox="1"/>
          <p:nvPr/>
        </p:nvSpPr>
        <p:spPr>
          <a:xfrm>
            <a:off x="2638269" y="2353456"/>
            <a:ext cx="8184629" cy="2031325"/>
          </a:xfrm>
          <a:prstGeom prst="rect">
            <a:avLst/>
          </a:prstGeom>
          <a:noFill/>
        </p:spPr>
        <p:txBody>
          <a:bodyPr wrap="square" rtlCol="0">
            <a:spAutoFit/>
          </a:bodyPr>
          <a:lstStyle/>
          <a:p>
            <a:pPr marL="342900" indent="-342900" algn="just">
              <a:buFont typeface="Wingdings" panose="05000000000000000000" pitchFamily="2" charset="2"/>
              <a:buChar char="q"/>
            </a:pPr>
            <a:r>
              <a:rPr lang="en-US" dirty="0">
                <a:latin typeface="Cambria" panose="02040503050406030204" pitchFamily="18" charset="0"/>
                <a:ea typeface="Cambria" panose="02040503050406030204" pitchFamily="18" charset="0"/>
              </a:rPr>
              <a:t>Insurance charges prediction in machine learning is a vital application of predictive analytics in the healthcare industry. By leveraging machine learning algorithms, insurers can accurately forecast insurance costs, enabling them to offer personalized policies, optimize business strategies, and improve healthcare outcomes. The project has numerous benefits, including accurate risk assessment, personalized policies, cost reduction, improved customer satisfaction, and competitive advantage.</a:t>
            </a:r>
            <a:endParaRPr lang="en-IN" dirty="0">
              <a:latin typeface="Cambria" panose="02040503050406030204" pitchFamily="18" charset="0"/>
              <a:ea typeface="Cambria" panose="020405030504060302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573655" y="852805"/>
            <a:ext cx="6170295" cy="1543050"/>
          </a:xfrm>
          <a:prstGeom prst="rect">
            <a:avLst/>
          </a:prstGeom>
          <a:noFill/>
        </p:spPr>
        <p:txBody>
          <a:bodyPr wrap="square" rtlCol="0">
            <a:noAutofit/>
          </a:bodyPr>
          <a:lstStyle/>
          <a:p>
            <a:endParaRPr lang="en-US"/>
          </a:p>
        </p:txBody>
      </p:sp>
      <p:sp>
        <p:nvSpPr>
          <p:cNvPr id="3" name="Text Box 2"/>
          <p:cNvSpPr txBox="1"/>
          <p:nvPr/>
        </p:nvSpPr>
        <p:spPr>
          <a:xfrm>
            <a:off x="0" y="2486025"/>
            <a:ext cx="12192000" cy="1266825"/>
          </a:xfrm>
          <a:prstGeom prst="rect">
            <a:avLst/>
          </a:prstGeom>
          <a:noFill/>
        </p:spPr>
        <p:txBody>
          <a:bodyPr wrap="square" rtlCol="0">
            <a:noAutofit/>
          </a:bodyPr>
          <a:lstStyle/>
          <a:p>
            <a:r>
              <a:rPr lang="en-US" sz="8000" dirty="0"/>
              <a:t>THANK YOU FOR </a:t>
            </a:r>
            <a:r>
              <a:rPr lang="en-US" sz="7200" dirty="0"/>
              <a:t>WATHING</a:t>
            </a:r>
            <a:endParaRPr lang="en-US" sz="80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139</TotalTime>
  <Words>657</Words>
  <Application>Microsoft Office PowerPoint</Application>
  <PresentationFormat>Widescreen</PresentationFormat>
  <Paragraphs>72</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Arial</vt:lpstr>
      <vt:lpstr>Calibri</vt:lpstr>
      <vt:lpstr>Cambria</vt:lpstr>
      <vt:lpstr>Courier New</vt:lpstr>
      <vt:lpstr>Times New Roman</vt:lpstr>
      <vt:lpstr>Trebuchet MS</vt:lpstr>
      <vt:lpstr>Wingdings</vt:lpstr>
      <vt:lpstr>Wingdings 3</vt:lpstr>
      <vt:lpstr>Facet</vt:lpstr>
      <vt:lpstr> Insurance Charges Prediction</vt:lpstr>
      <vt:lpstr>Introduction to the Project:-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Devarsh Jadav</dc:creator>
  <cp:lastModifiedBy>mitesh rana</cp:lastModifiedBy>
  <cp:revision>24</cp:revision>
  <dcterms:created xsi:type="dcterms:W3CDTF">2024-08-14T14:38:00Z</dcterms:created>
  <dcterms:modified xsi:type="dcterms:W3CDTF">2024-09-17T08:33:20Z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DC2C8BE1CAC74AB19995747B7B35A5EF_12</vt:lpwstr>
  </property>
  <property fmtid="{D5CDD505-2E9C-101B-9397-08002B2CF9AE}" pid="3" name="KSOProductBuildVer">
    <vt:lpwstr>1033-12.2.0.13472</vt:lpwstr>
  </property>
</Properties>
</file>